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73" r:id="rId14"/>
    <p:sldId id="267" r:id="rId15"/>
    <p:sldId id="275" r:id="rId16"/>
    <p:sldId id="274" r:id="rId17"/>
    <p:sldId id="268" r:id="rId18"/>
    <p:sldId id="269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14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36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66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Чернівецький національний університет імені Юрія Федьковича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</a:t>
            </a:r>
            <a:r>
              <a:rPr lang="en-US" sz="9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комп'ютерних </a:t>
            </a: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786384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самовідновлювального конвеєру ETL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аналітичного сховища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текстових відгуків з використанням Apache Airflow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локальних великих мовних моделей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3771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B8D4"/>
                </a:solidFill>
              </a:rPr>
              <a:t>Виконав: </a:t>
            </a:r>
            <a:r>
              <a:rPr lang="en-US" sz="1600" b="1" dirty="0">
                <a:solidFill>
                  <a:srgbClr val="FFFFFF"/>
                </a:solidFill>
              </a:rPr>
              <a:t>Мулик Андрій Васильович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43159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1100" dirty="0">
                <a:solidFill>
                  <a:srgbClr val="8DB8D4"/>
                </a:solidFill>
              </a:rPr>
              <a:t>Чернівці</a:t>
            </a:r>
            <a:r>
              <a:rPr lang="en-US" sz="1100" dirty="0">
                <a:solidFill>
                  <a:srgbClr val="8DB8D4"/>
                </a:solidFill>
              </a:rPr>
              <a:t>, 2026</a:t>
            </a:r>
            <a:endParaRPr lang="en-US" sz="11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F5BE8D2-7187-C92E-1837-03421BE7871E}"/>
              </a:ext>
            </a:extLst>
          </p:cNvPr>
          <p:cNvSpPr/>
          <p:nvPr/>
        </p:nvSpPr>
        <p:spPr>
          <a:xfrm>
            <a:off x="457200" y="2743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uk-UA" sz="28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ІЗ ПЕРЕДДИПЛОМНОЇ ПРАКТИКИ</a:t>
            </a:r>
            <a:r>
              <a:rPr lang="uk-UA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7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Огляд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33900" y="-3048"/>
            <a:ext cx="291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презентації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2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10412"/>
            <a:ext cx="19659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Теоретичні основи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Якість даних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Self-Healing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Sentiment Analysis Технологічний стек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10412"/>
            <a:ext cx="1965960" cy="4754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Проектування системи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8833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Архітектура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DuckDB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DAG Airflow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Модуль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r>
              <a:rPr lang="en-US" sz="1400" dirty="0" err="1">
                <a:solidFill>
                  <a:srgbClr val="3A5F7A"/>
                </a:solidFill>
              </a:rPr>
              <a:t>самовідновлення</a:t>
            </a:r>
            <a:r>
              <a:rPr lang="en-US" sz="1400" dirty="0">
                <a:solidFill>
                  <a:srgbClr val="3A5F7A"/>
                </a:solidFill>
              </a:rPr>
              <a:t>  Blazor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10412"/>
            <a:ext cx="1965960" cy="4754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Реалізація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3717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Chain of Responsibility  TaskFlow API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Bearer Auth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Blazor</a:t>
            </a:r>
            <a:r>
              <a:rPr lang="en-US" sz="1400" dirty="0">
                <a:solidFill>
                  <a:srgbClr val="3A5F7A"/>
                </a:solidFill>
              </a:rPr>
              <a:t> WASM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010412"/>
            <a:ext cx="1965960" cy="475488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Тестування та результати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8601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Unit/System </a:t>
            </a:r>
            <a:r>
              <a:rPr lang="en-US" sz="1400" dirty="0" err="1">
                <a:solidFill>
                  <a:srgbClr val="3A5F7A"/>
                </a:solidFill>
              </a:rPr>
              <a:t>тести</a:t>
            </a:r>
            <a:r>
              <a:rPr lang="en-US" sz="1400" dirty="0">
                <a:solidFill>
                  <a:srgbClr val="3A5F7A"/>
                </a:solidFill>
              </a:rPr>
              <a:t> Sentiment </a:t>
            </a:r>
            <a:r>
              <a:rPr lang="en-US" sz="1400" dirty="0" err="1">
                <a:solidFill>
                  <a:srgbClr val="3A5F7A"/>
                </a:solidFill>
              </a:rPr>
              <a:t>кореляція</a:t>
            </a:r>
            <a:r>
              <a:rPr lang="en-US" sz="1400" dirty="0">
                <a:solidFill>
                  <a:srgbClr val="3A5F7A"/>
                </a:solidFill>
              </a:rPr>
              <a:t>  </a:t>
            </a:r>
            <a:r>
              <a:rPr lang="en-US" sz="1400" dirty="0" err="1">
                <a:solidFill>
                  <a:srgbClr val="3A5F7A"/>
                </a:solidFill>
              </a:rPr>
              <a:t>Продуктивність</a:t>
            </a:r>
            <a:r>
              <a:rPr lang="en-US" sz="1400" dirty="0">
                <a:solidFill>
                  <a:srgbClr val="3A5F7A"/>
                </a:solidFill>
              </a:rPr>
              <a:t> Порівняння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Вступ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25140" y="53340"/>
            <a:ext cx="529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роботи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3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8284"/>
            <a:ext cx="4160520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48284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82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Актуальність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2146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18719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Підприємства обробляють ~2,7 ПБ даних/місяць через конвеєрну інфраструктуру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08823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6080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41% часу інженерів даних — усунення проблем якості (DataOps 2023)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270158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7415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Apache Airflow — щоденно у 55% організацій з оркестрацією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3290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0157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LLaMA + Ollama: локальний LLM-інференс без хмарних провайдерів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394236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91493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Відсутні україномовні дослідження self-healing конвеєрів з LLM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748284"/>
            <a:ext cx="4160520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48284"/>
            <a:ext cx="4160520" cy="3474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7482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Мета та завдання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73168" y="11689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A50"/>
                </a:solidFill>
              </a:rPr>
              <a:t>Мета: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7007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3A50"/>
                </a:solidFill>
              </a:rPr>
              <a:t>Розробити самовідновлювальний ETL-конвеєр аналізу тональності з вбудованою логікою автоматичного виправлення дефектів, локальним LLM (llama3.2/Ollama) та Blazor-дашбордом моніторингу.</a:t>
            </a:r>
            <a:endParaRPr lang="en-US" sz="1400" b="1" dirty="0"/>
          </a:p>
        </p:txBody>
      </p:sp>
      <p:sp>
        <p:nvSpPr>
          <p:cNvPr id="25" name="Text 23"/>
          <p:cNvSpPr/>
          <p:nvPr/>
        </p:nvSpPr>
        <p:spPr>
          <a:xfrm>
            <a:off x="4818888" y="257175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A50"/>
                </a:solidFill>
              </a:rPr>
              <a:t>Завдання: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279120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1. Теоретичне дослідження self-healing та sentiment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316611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2. Аналіз якості даних Yelp Academic 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54101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3. Проектування багаторівневої архітектури системи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391591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4. Реалізація детерміністичного алгоритму самовідновлення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438073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5. Інтеграція llama3.2 через Ollama (локальний інференс)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0" y="22859"/>
            <a:ext cx="579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якості даних у Yelp Academic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4 / 17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510805"/>
              </p:ext>
            </p:extLst>
          </p:nvPr>
        </p:nvGraphicFramePr>
        <p:xfrm>
          <a:off x="182880" y="984068"/>
          <a:ext cx="4743929" cy="3400698"/>
        </p:xfrm>
        <a:graphic>
          <a:graphicData uri="http://schemas.openxmlformats.org/drawingml/2006/table">
            <a:tbl>
              <a:tblPr/>
              <a:tblGrid>
                <a:gridCol w="158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Тип дефекту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Стратегія виправлення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Код статусу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missing_text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Placeholder "No review text provided."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wrong_type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Примусове перетворення str()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empty_text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Заповнення placeholder-текстом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special_chars_only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Заміна на "[Non-text content]"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too_long (&gt;2000)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Обрізка до 2000 символів + "..."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Корректний текст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Нормалізація пробілів strip()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23560" y="3434334"/>
            <a:ext cx="3200400" cy="39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1.1 – Типовий розподіл аномалій у датасеті ]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9699" y="3875531"/>
            <a:ext cx="3870087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9699" y="3875531"/>
            <a:ext cx="13268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41%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344412" y="3875531"/>
            <a:ext cx="2510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часу інженерів даних витрачається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на усунення проблем якості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(DataOps Impact Assessment, 2023)</a:t>
            </a:r>
            <a:endParaRPr lang="en-US" sz="1200" dirty="0"/>
          </a:p>
        </p:txBody>
      </p:sp>
      <p:pic>
        <p:nvPicPr>
          <p:cNvPr id="14" name="Рисунок 13" descr="Изображение выглядит как текст, снимок экрана, Шриф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BEEBF2F9-EB07-5A27-DDBF-02A400183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89" y="1032838"/>
            <a:ext cx="4025081" cy="24014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58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48940" y="65532"/>
            <a:ext cx="6195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 Self-Healing у конвеєрах обробки даних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27720" y="48387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5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7640" y="2104644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1.2 – Схема Self-Healing конвеєра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3931920" cy="310896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10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HEALTHY  —  Всі записи успішно оброблено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758184"/>
            <a:ext cx="3931920" cy="31089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758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WARNING  —  Відновлено &gt;50% записів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4105656"/>
            <a:ext cx="3931920" cy="310896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1056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DEGRADED  —  Є деградовані записи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453128"/>
            <a:ext cx="3931920" cy="310896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53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CRITICAL  —  Деградовані &gt;10% від обсягу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68005"/>
              </p:ext>
            </p:extLst>
          </p:nvPr>
        </p:nvGraphicFramePr>
        <p:xfrm>
          <a:off x="4434840" y="849630"/>
          <a:ext cx="4541520" cy="1805940"/>
        </p:xfrm>
        <a:graphic>
          <a:graphicData uri="http://schemas.openxmlformats.org/drawingml/2006/table">
            <a:tbl>
              <a:tblPr/>
              <a:tblGrid>
                <a:gridCol w="132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Переваги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Недоліки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Rule-based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Передбачуваність, швидкість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Ручне оновлення правил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ML-based (RL)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Адаптивність до нових сценаріїв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Потребує великих даних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2"/>
                          </a:solidFill>
                        </a:rPr>
                        <a:t>Гібридний *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Баланс між підходами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Складніша архітектура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434840" y="28635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4E6B"/>
                </a:solidFill>
              </a:rPr>
              <a:t>* Обраний підхід у даній системі: детерміністична логіка + чотири рівні здоров'я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34396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4122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Рівень безперервного моніторингу (real-time)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7871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37597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Механізм діагностики та класифікації помилок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41346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41071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Реєстр стратегій виправлення (5 класів дефектів)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44820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44546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Компонент звітності health-звіту (JSON)</a:t>
            </a:r>
            <a:endParaRPr lang="en-US" sz="1200" dirty="0"/>
          </a:p>
        </p:txBody>
      </p:sp>
      <p:pic>
        <p:nvPicPr>
          <p:cNvPr id="27" name="Рисунок 26" descr="Изображение выглядит как текст, снимок экрана, Шриф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E84EE4B4-EDF8-EB5C-2916-7BE6EBD2E4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012"/>
          <a:stretch/>
        </p:blipFill>
        <p:spPr bwMode="auto">
          <a:xfrm>
            <a:off x="167640" y="708660"/>
            <a:ext cx="3931920" cy="24283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1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78480" y="5334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та технологічний стек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DB8D4"/>
                </a:solidFill>
              </a:rPr>
              <a:t>6 / 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024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Еволюція методів Sentiment Analysis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6888" y="1575816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6123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2000-ті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6123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Lexicon-based (VADER, SentiWordNet)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161239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Не враховує контекст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" y="2124456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16103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2010-ті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1610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ML: Naive Bayes, SVM, TF-IDF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1610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Не враховує залежності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" y="2673096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70967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2015+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27096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Deep: LSTM, CNN + Attention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7096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Великий датасет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" y="3221736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2583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2018+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32583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Transformers: BERT, RoBERTa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325831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Великий розмір моделі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" y="3770376"/>
            <a:ext cx="484632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80695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2024+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568" y="38069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LLM: llama3.2 + Ollama (цей проєкт)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49240" y="1298448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1298448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3.0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16276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DAG, TaskFlow API, Param API, Web UI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49240" y="2176272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9240" y="2176272"/>
            <a:ext cx="64008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llama3.2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2505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LLM-інференс, REST API, 3B параметрів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49240" y="3054096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49240" y="3054096"/>
            <a:ext cx="64008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0" y="3383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Колонкове аналітичне сховище, вбудоване, субсекундні запити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349240" y="3931920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9240" y="3931920"/>
            <a:ext cx="64008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Hosted WASM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0" y="42611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мова C# для сервера і клієнта, MudBlazor UI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arch.png" title="arch.png">
            <a:extLst>
              <a:ext uri="{FF2B5EF4-FFF2-40B4-BE49-F238E27FC236}">
                <a16:creationId xmlns:a16="http://schemas.microsoft.com/office/drawing/2014/main" id="{577932A5-401F-EC3A-710E-6D795B2DB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8" r="8994"/>
          <a:stretch/>
        </p:blipFill>
        <p:spPr bwMode="auto">
          <a:xfrm>
            <a:off x="77470" y="899160"/>
            <a:ext cx="5866130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63240" y="68580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архітектура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7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4546092"/>
            <a:ext cx="30175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2.1 – Багаторівнева архітектура системи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07608" y="11887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7608" y="1188720"/>
            <a:ext cx="54864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252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Рівень вхідних даних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Yelp Academic Dataset (NDJSON) → Blazor Export 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07608" y="1874520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07608" y="1874520"/>
            <a:ext cx="54864" cy="61264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110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Оркестрація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Apache Airflow 3.0 · DAG business_analysis_pipeline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7608" y="25603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7608" y="2560320"/>
            <a:ext cx="54864" cy="61264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596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Обробка даних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816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Self-Healing Module (Chain of Responsibility) + LLM Sentiment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07608" y="3246120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608" y="3246120"/>
            <a:ext cx="54864" cy="61264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282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Зберігання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DuckDB (аналітика, 6+ ГБ) · SQLite (Auth, Pipeline runs)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07608" y="39319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3931920"/>
            <a:ext cx="54864" cy="612648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9684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Презентація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4187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Blazor Hosted WebAssembly · MudBlazor · Real-time polling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конвеєрів Apache Airflow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8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17904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reviews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diagnose_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and_heal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analyze_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sentiment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68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aggregate_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7456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health_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Завантаження llama3.2 через Ollama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Читання NDJSON з batch_size / offset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Chain of Responsibility: 5 класів дефектів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17136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Послідовний LLM-інференс + retry (3x)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07024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Запис JSON + SQLite (PipelineRun)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Визначення HEALTHY / WARNING / DEGRADED / CRITICAL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3288" y="2294382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8FAA"/>
                </a:solidFill>
              </a:rPr>
              <a:t>[ Рис. 2.3 – Структура DAG business_analysis_pipeline 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7448" y="36835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Параметри запуску (Param API)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7448" y="4012692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8888" y="40492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input_file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07336" y="40492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Шлях до NDJSON (рядок)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7448" y="4433316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8888" y="44698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ollama_model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07336" y="44698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Ім'я моделі (llama3.2)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33900" y="4015740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5340" y="40523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batch_size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23788" y="405231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Розмір пакету (0 = всі)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33900" y="4436364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5340" y="44729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offset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23788" y="44729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Зміщення для відновлення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34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14700" y="79248"/>
            <a:ext cx="50977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модуля самовідновлення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9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453542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2.4 – Алгоритм Self-Healing (Chain of Responsibility)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22620" y="926592"/>
            <a:ext cx="2598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Ланцюжок відповідальності (_heal_review)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274064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274064"/>
            <a:ext cx="54864" cy="43891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310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text is None?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6540" y="131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filled_with_placeholder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786128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786128"/>
            <a:ext cx="54864" cy="438912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822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not isinstance(text,str)?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6540" y="182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type_conversion → str(text)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298192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298192"/>
            <a:ext cx="54864" cy="43891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334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not text.strip()?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6540" y="2334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filled_with_placeholder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810256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810256"/>
            <a:ext cx="54864" cy="43891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846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немає a-zA-Z0-9?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6540" y="2846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replaced → "[Non-text content]"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322320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32232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358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len(text)&gt;2000?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06540" y="3358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truncated_text + "..."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834384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834384"/>
            <a:ext cx="54864" cy="438912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870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Валідний текст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06540" y="3870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text.strip() → status: success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43845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original_text зберігається у кожному записі до будь-якого виправлення</a:t>
            </a:r>
            <a:endParaRPr lang="en-US" sz="850" dirty="0"/>
          </a:p>
        </p:txBody>
      </p:sp>
      <p:pic>
        <p:nvPicPr>
          <p:cNvPr id="36" name="Рисунок 35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71F64CF-45E5-1628-E5CA-23A0840D7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0" y="1203578"/>
            <a:ext cx="4490848" cy="29938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7040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40380" y="83820"/>
            <a:ext cx="5636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Blazor-дашборду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56600" y="49011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10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5780" y="4503420"/>
            <a:ext cx="5029200" cy="262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2.7 – Архітектура Blazor Hosted WebAssembly дашборду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02120" y="8793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Сторінки дашборду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02120" y="124510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02120" y="1245108"/>
            <a:ext cx="64008" cy="7040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9280" y="13182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Home.razor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9280" y="15742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запусків + health-чіпи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2120" y="202234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02120" y="2022348"/>
            <a:ext cx="64008" cy="7040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9280" y="20955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RunDetail.razor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9280" y="23515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chart, bar chart, Healing 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2120" y="279958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2120" y="2799588"/>
            <a:ext cx="64008" cy="7040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9280" y="28727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BusinessAnalysis.razor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9280" y="31287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тренди, real-time polling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2120" y="357682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2120" y="3576828"/>
            <a:ext cx="64008" cy="70408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9280" y="36499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Login.razor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39280" y="390601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Bearer-автентифікація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86448" y="4590288"/>
            <a:ext cx="211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4E6B"/>
                </a:solidFill>
              </a:rPr>
              <a:t>Архітектурні рішення: Blazor Hosted WebAssembly · MudBlazor · PeriodicTimer 5с · Task.WhenAll (8 ендпоінтів паралельно)</a:t>
            </a:r>
            <a:endParaRPr lang="en-US" sz="8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16B6C5E-0068-39A2-9FFD-FA43F51D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10" y="1022241"/>
            <a:ext cx="6591558" cy="3400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</a:t>
            </a:r>
            <a:r>
              <a:rPr lang="uk-UA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32760" y="54864"/>
            <a:ext cx="4922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Apache Airflow з аналогами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15 / 17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29252"/>
              </p:ext>
            </p:extLst>
          </p:nvPr>
        </p:nvGraphicFramePr>
        <p:xfrm>
          <a:off x="548640" y="747522"/>
          <a:ext cx="8252460" cy="4104491"/>
        </p:xfrm>
        <a:graphic>
          <a:graphicData uri="http://schemas.openxmlformats.org/drawingml/2006/table">
            <a:tbl>
              <a:tblPr/>
              <a:tblGrid>
                <a:gridCol w="173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5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Apache Airflow 3.0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Prefect 3.x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Dagster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Парадигма задач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Python DAG + TaskFlow API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Flow + @task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Asset-first + ops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Обробка помилок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retry, on_failure_callback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Circuit breakers, SLA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Asset checks, hooks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Self-healing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Ручна реалізація ✓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Ручна реалізація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Вбудовані asset checks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Моніторинг UI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Вбудований Web UI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Prefect Cloud/Server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Dagster UI (Dagit)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GitHub stars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36 000+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15 000+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11 000+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Self-hosted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Повністю ✓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Придатність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★★★★★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★★★★☆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★★★☆☆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43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68980" y="73152"/>
            <a:ext cx="5814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— ключові компоненти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DB8D4"/>
                </a:solidFill>
              </a:rPr>
              <a:t>11 / 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42062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Self-Healing Module (Python)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" y="164592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5910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Chain of Responsibility: 5 умовних гілок у _heal_review()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" y="20482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933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Null Object Pattern: _degraded_results() при недоступності Ollama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" y="24505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3957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Зберігання original_text у кожному записі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120700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07008"/>
            <a:ext cx="4206240" cy="329184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070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Apache Airflow 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27448" y="1645920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910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TaskFlow API: @task-декоратори, залежності через повернені значення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27448" y="2048256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9933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Param API: типізовані параметри input_file, batch_size, offset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27448" y="2450592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3957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batch_runner.py: послідовний/паралельний запуск (ThreadPoolExecutor)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26080"/>
            <a:ext cx="4206240" cy="32918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Рівень зберігання (DuckDB + SQLite)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9768" y="3364992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3101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read_json_auto(): потоковий імпорт NDJSON без C#-десеріалізації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" y="3767328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TRY_CAST для безпечного читання нестандартних дат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9768" y="4169664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114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JOIN з "user" (у лапках — зарезервоване слово DuckDB)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926080"/>
            <a:ext cx="4206240" cy="329184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Автентифікація та Blazor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27448" y="3364992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3101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PBKDF2-SHA256 (100 000 ітерацій) для зберігання паролів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27448" y="3767328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TokenAuthHandler: власна Bearer-схема без зовнішніх залежностей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27448" y="4169664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4114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PeriodicTimer + Task.WhenAll: 4-кратне покращення часу відгуку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7040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</a:t>
            </a:r>
            <a:r>
              <a:rPr lang="uk-UA" sz="900" b="1" dirty="0">
                <a:solidFill>
                  <a:srgbClr val="0A1628"/>
                </a:solidFill>
              </a:rPr>
              <a:t>3</a:t>
            </a:r>
            <a:r>
              <a:rPr lang="en-US" sz="900" b="1" dirty="0">
                <a:solidFill>
                  <a:srgbClr val="0A1628"/>
                </a:solidFill>
              </a:rPr>
              <a:t> · п.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93720" y="53921"/>
            <a:ext cx="5636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Відеодемонстрація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роботи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56600" y="49011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10 / 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9438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12 / 17</a:t>
            </a:r>
            <a:endParaRPr lang="en-US" sz="800" dirty="0"/>
          </a:p>
        </p:txBody>
      </p:sp>
      <p:sp>
        <p:nvSpPr>
          <p:cNvPr id="7" name="Text 10"/>
          <p:cNvSpPr/>
          <p:nvPr/>
        </p:nvSpPr>
        <p:spPr>
          <a:xfrm>
            <a:off x="2560320" y="4673600"/>
            <a:ext cx="3383280" cy="46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</a:t>
            </a:r>
            <a:r>
              <a:rPr lang="uk-UA" sz="900" i="1" dirty="0">
                <a:solidFill>
                  <a:srgbClr val="5A8FAA"/>
                </a:solidFill>
              </a:rPr>
              <a:t>1</a:t>
            </a:r>
            <a:r>
              <a:rPr lang="en-US" sz="900" i="1" dirty="0">
                <a:solidFill>
                  <a:srgbClr val="5A8FAA"/>
                </a:solidFill>
              </a:rPr>
              <a:t> – Головна сторінка дашборду: список запусків ]</a:t>
            </a:r>
            <a:endParaRPr lang="en-US" sz="900" dirty="0"/>
          </a:p>
        </p:txBody>
      </p:sp>
      <p:pic>
        <p:nvPicPr>
          <p:cNvPr id="15" name="Рисунок 14" descr="Изображение выглядит как текст, программное обеспечение, Мультимедийное программное обеспечение, Графическ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5234AF3E-601A-4F22-F95B-65E7BF35F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819912"/>
            <a:ext cx="8763000" cy="39658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12 / 17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92780" y="4606290"/>
            <a:ext cx="33832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</a:t>
            </a:r>
            <a:r>
              <a:rPr lang="uk-UA" sz="900" i="1" dirty="0">
                <a:solidFill>
                  <a:srgbClr val="5A8FAA"/>
                </a:solidFill>
              </a:rPr>
              <a:t>2</a:t>
            </a:r>
            <a:r>
              <a:rPr lang="en-US" sz="900" i="1" dirty="0">
                <a:solidFill>
                  <a:srgbClr val="5A8FAA"/>
                </a:solidFill>
              </a:rPr>
              <a:t> – Успішне виконання DAG в Airflow UI ]</a:t>
            </a:r>
            <a:endParaRPr lang="en-US" sz="900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F2951064-0656-D63E-9A53-0861AA694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54" y="845820"/>
            <a:ext cx="8368091" cy="39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24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E95F6D9F-CCD1-2AE4-3F66-9A401F3DA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575239"/>
              </p:ext>
            </p:extLst>
          </p:nvPr>
        </p:nvGraphicFramePr>
        <p:xfrm>
          <a:off x="624840" y="820388"/>
          <a:ext cx="8069579" cy="3555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1065862864"/>
                    </a:ext>
                  </a:extLst>
                </a:gridCol>
                <a:gridCol w="1292818">
                  <a:extLst>
                    <a:ext uri="{9D8B030D-6E8A-4147-A177-3AD203B41FA5}">
                      <a16:colId xmlns:a16="http://schemas.microsoft.com/office/drawing/2014/main" val="610032126"/>
                    </a:ext>
                  </a:extLst>
                </a:gridCol>
                <a:gridCol w="1289753">
                  <a:extLst>
                    <a:ext uri="{9D8B030D-6E8A-4147-A177-3AD203B41FA5}">
                      <a16:colId xmlns:a16="http://schemas.microsoft.com/office/drawing/2014/main" val="1259989598"/>
                    </a:ext>
                  </a:extLst>
                </a:gridCol>
                <a:gridCol w="1379415">
                  <a:extLst>
                    <a:ext uri="{9D8B030D-6E8A-4147-A177-3AD203B41FA5}">
                      <a16:colId xmlns:a16="http://schemas.microsoft.com/office/drawing/2014/main" val="2868282500"/>
                    </a:ext>
                  </a:extLst>
                </a:gridCol>
                <a:gridCol w="1276822">
                  <a:extLst>
                    <a:ext uri="{9D8B030D-6E8A-4147-A177-3AD203B41FA5}">
                      <a16:colId xmlns:a16="http://schemas.microsoft.com/office/drawing/2014/main" val="1726478872"/>
                    </a:ext>
                  </a:extLst>
                </a:gridCol>
                <a:gridCol w="1200091">
                  <a:extLst>
                    <a:ext uri="{9D8B030D-6E8A-4147-A177-3AD203B41FA5}">
                      <a16:colId xmlns:a16="http://schemas.microsoft.com/office/drawing/2014/main" val="3166789640"/>
                    </a:ext>
                  </a:extLst>
                </a:gridCol>
              </a:tblGrid>
              <a:tr h="454089"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Сценарій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degraded_rate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healing_rate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Очікуваний статус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Фактичний статус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Результат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3121589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Всі записи успішно оброблені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369592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15% записів потребували healing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15%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4910854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55% записів потребували healing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55%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WARNING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WARNING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4544218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5% деградованих записів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будь-яке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DEGRADED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 dirty="0">
                          <a:effectLst/>
                        </a:rPr>
                        <a:t>DEGRADED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✓ 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755101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 dirty="0">
                          <a:effectLst/>
                        </a:rPr>
                        <a:t>15% деградованих записів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15%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будь-яке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CRITICAL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CRITICAL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 dirty="0">
                          <a:effectLst/>
                        </a:rPr>
                        <a:t>✓ Відповідає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157282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12A29AE2-D0EA-162A-76E2-D8B68F233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7000"/>
            <a:ext cx="88239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Таблиця 4.3 – Тестування health-статусів конвеєру (TC-08, TC-09)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Тестування підтвердило коректність логіки визначення health-статусу для всіх граничних значень. Порогові умови (</a:t>
            </a:r>
            <a:r>
              <a:rPr kumimoji="0" lang="uk-UA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degraded</a:t>
            </a: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&gt; 10% → CRITICAL, </a:t>
            </a:r>
            <a:r>
              <a:rPr kumimoji="0" lang="uk-UA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healing</a:t>
            </a: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&gt; 50% → WARNING) реалізовані точно відповідно до специфікації розділу 2.6.</a:t>
            </a:r>
            <a:endParaRPr kumimoji="0" lang="uk-U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61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6629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55620" y="54864"/>
            <a:ext cx="519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результатів Sentiment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13 / 17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16397"/>
              </p:ext>
            </p:extLst>
          </p:nvPr>
        </p:nvGraphicFramePr>
        <p:xfrm>
          <a:off x="167640" y="922020"/>
          <a:ext cx="4892040" cy="3200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Зірки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POSITIVE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NEGATIVE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NEUTRAL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Кореляція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75–82%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10–15%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15–22%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55–65%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18–25%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Середня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3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25–35%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20–30%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40–50%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Низька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4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60–70%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18–28%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5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78–88%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3–7%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7640" y="42138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B3A"/>
                </a:solidFill>
              </a:rPr>
              <a:t>3-зіркові відгуки мають найнижчу кореляцію через змішаний емоційний характер (expected).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2799588"/>
            <a:ext cx="3429000" cy="437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4.3 – Розподіл тональності та кореляція зірок 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33451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Confidence score за статусами: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24404"/>
              </p:ext>
            </p:extLst>
          </p:nvPr>
        </p:nvGraphicFramePr>
        <p:xfrm>
          <a:off x="5394960" y="3656076"/>
          <a:ext cx="342900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confidence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0.78–0.85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0.65–0.75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degraded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0.50 (fixed)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D3D540-ED80-73B7-2551-A30C49E4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49" y="1021842"/>
            <a:ext cx="389693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32760" y="44196"/>
            <a:ext cx="45796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продуктивності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49144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B8D4"/>
                </a:solidFill>
              </a:rPr>
              <a:t>14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6720" y="693199"/>
            <a:ext cx="8100060" cy="32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Час виконання DAG залежно від batch_size (llama3.2, CPU Ryzen 5800H):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43422"/>
              </p:ext>
            </p:extLst>
          </p:nvPr>
        </p:nvGraphicFramePr>
        <p:xfrm>
          <a:off x="723901" y="1043612"/>
          <a:ext cx="8100059" cy="2264665"/>
        </p:xfrm>
        <a:graphic>
          <a:graphicData uri="http://schemas.openxmlformats.org/drawingml/2006/table">
            <a:tbl>
              <a:tblPr/>
              <a:tblGrid>
                <a:gridCol w="1167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load_model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diagnose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sentiment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Загалом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~60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~510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500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~2500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~2510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~5016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17620" y="3270064"/>
            <a:ext cx="8100060" cy="32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analyze_sentiment: 96–98% часу виконання. ~5 с/відгук на CPU, ~0.5–1 с на GPU.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6719" y="3496827"/>
            <a:ext cx="8100060" cy="301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DuckDB vs прямий JSON-scan:</a:t>
            </a:r>
            <a:endParaRPr lang="en-US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316822"/>
              </p:ext>
            </p:extLst>
          </p:nvPr>
        </p:nvGraphicFramePr>
        <p:xfrm>
          <a:off x="426719" y="3803253"/>
          <a:ext cx="8100060" cy="1329364"/>
        </p:xfrm>
        <a:graphic>
          <a:graphicData uri="http://schemas.openxmlformats.org/drawingml/2006/table">
            <a:tbl>
              <a:tblPr/>
              <a:tblGrid>
                <a:gridCol w="321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7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Запит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DuckDB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Пошук бізнесу (ILIKE)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8–15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4000–8000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Місячний тренд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12–25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5000–12000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Heatmap 7×24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18–35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8000–15000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~300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91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01340" y="86868"/>
            <a:ext cx="58597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та обмеження розробленої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83880" y="4663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DB8D4"/>
                </a:solidFill>
              </a:rPr>
              <a:t>16 / 17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15568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Self-Healing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7048" y="1207008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1207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7048" y="1499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Детерміністична логіка, повний audit trail кожного виправлення, 5 класів помилок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207008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4996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Відсутня підтримка нових типів без змін коду DAG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01168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11680"/>
            <a:ext cx="54864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66544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LLM Inference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7048" y="2103120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7048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27048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Конфіденційність даних (локально); нульова вартість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103120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3957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Послідовний інференс ~5 с/відгук на CPU; відсутня GPU-підтримка у Docker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2907792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907792"/>
            <a:ext cx="54864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62656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DuckDB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27048" y="2999232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27048" y="29992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27048" y="3291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Субсекундні аналітичні запити на 6+ ГБ без зовнішнього сервера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999232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992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2918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Відсутня реплікація та паралельний запис між процесами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803904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803904"/>
            <a:ext cx="54864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58768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Blazor WASM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27048" y="3895344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27048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27048" y="4187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Єдина мова C# для сервера і клієнта; MudBlazor-компоненти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3895344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41879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Перше завантаження WASM ~3–5 с; XSS-ризик localStorage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768096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0704" y="914400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Розроблено самовідновлювальний ETL-конвеєр із детерміністичним алгоритмом виявлення та виправлення 5 класів дефектів вхідних даних на базі Apache Airflow 3.0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0704" y="1719072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Реалізовано інтеграцію локальної LLM llama3.2 через Ollama із retry-логікою та Null Object Pattern (graceful degradation при недоступності Ollama)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60704" y="2523744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Побудовано аналітичне сховище DuckDB з колонковим зберіганням — субсекундні запити (300–500× швидше прямого JSON-сканування) на датасеті 6+ ГБ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60704" y="3328416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Тестування підтвердило: середній confidence ≥ 0.78 на success-записах; очікувана кореляція зірок/тональності (найвища для 1★ та 5★)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060704" y="4133088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Apache Airflow 3.0 обґрунтовано обраний як найзріліший оркестратор (36 000+ GitHub stars) з повною self-hosted моделлю та Param 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1853</Words>
  <Application>Microsoft Office PowerPoint</Application>
  <PresentationFormat>Экран (16:9)</PresentationFormat>
  <Paragraphs>457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ETL Pipeline</dc:title>
  <dc:subject>PptxGenJS Presentation</dc:subject>
  <dc:creator>Мулик Андрій Васильович</dc:creator>
  <cp:lastModifiedBy>Yuriy Tomka</cp:lastModifiedBy>
  <cp:revision>22</cp:revision>
  <dcterms:created xsi:type="dcterms:W3CDTF">2026-05-03T19:34:23Z</dcterms:created>
  <dcterms:modified xsi:type="dcterms:W3CDTF">2026-06-02T19:13:22Z</dcterms:modified>
</cp:coreProperties>
</file>