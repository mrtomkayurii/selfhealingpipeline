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8143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0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Чернівецький національний університет імені Юрія Федьковича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8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Кафедра</a:t>
            </a:r>
            <a:r>
              <a:rPr lang="en-US" sz="900" dirty="0">
                <a:solidFill>
                  <a:srgbClr val="8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комп'ютерних </a:t>
            </a:r>
            <a:r>
              <a:rPr lang="en-US" sz="900" dirty="0" err="1">
                <a:solidFill>
                  <a:srgbClr val="8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наук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371600" y="786384"/>
            <a:ext cx="6400800" cy="0"/>
          </a:xfrm>
          <a:prstGeom prst="line">
            <a:avLst/>
          </a:prstGeom>
          <a:noFill/>
          <a:ln w="9525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Розробка самовідновлювального конвеєру ETL</a:t>
            </a:r>
            <a:endParaRPr lang="en-US" sz="1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аналітичного сховища для аналізу тональності</a:t>
            </a:r>
            <a:endParaRPr lang="en-US" sz="1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текстових відгуків з використанням Apache Airflow</a:t>
            </a:r>
            <a:endParaRPr lang="en-US" sz="1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 локальних великих мовних моделей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315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B8D4"/>
                </a:solidFill>
              </a:rPr>
              <a:t>Виконав: </a:t>
            </a:r>
            <a:r>
              <a:rPr lang="en-US" sz="1100" b="1" dirty="0">
                <a:solidFill>
                  <a:srgbClr val="FFFFFF"/>
                </a:solidFill>
              </a:rPr>
              <a:t>Мулик Андрій Васильович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6085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B8D4"/>
                </a:solidFill>
              </a:rPr>
              <a:t>Керівник: </a:t>
            </a:r>
            <a:r>
              <a:rPr lang="en-US" sz="1100" b="1" dirty="0">
                <a:solidFill>
                  <a:srgbClr val="FFFFFF"/>
                </a:solidFill>
              </a:rPr>
              <a:t>к.ф.-м.н., доц. Томка Юрій Ярославович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431596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uk-UA" sz="1100" dirty="0">
                <a:solidFill>
                  <a:srgbClr val="8DB8D4"/>
                </a:solidFill>
              </a:rPr>
              <a:t>Чернівці</a:t>
            </a:r>
            <a:r>
              <a:rPr lang="en-US" sz="1100" dirty="0">
                <a:solidFill>
                  <a:srgbClr val="8DB8D4"/>
                </a:solidFill>
              </a:rPr>
              <a:t>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Огляд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презентації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2 / 17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19659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196596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1732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РОЗДІЛ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95681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Теоретичні основи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2505456"/>
            <a:ext cx="17465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A5F7A"/>
                </a:solidFill>
              </a:rPr>
              <a:t>Якість даних · Self-Healing · Sentiment Analysis · Технологічний стек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1417320"/>
            <a:ext cx="19659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417320"/>
            <a:ext cx="1965960" cy="475488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41732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РОЗДІЛ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60320" y="195681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Проектування системи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78608" y="2505456"/>
            <a:ext cx="17465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A5F7A"/>
                </a:solidFill>
              </a:rPr>
              <a:t>Архітектура · DuckDB · DAG Airflow · Модуль самовідновлення · Blazor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1417320"/>
            <a:ext cx="19659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417320"/>
            <a:ext cx="1965960" cy="475488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41732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РОЗДІЛ 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195681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Реалізація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27448" y="2505456"/>
            <a:ext cx="17465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A5F7A"/>
                </a:solidFill>
              </a:rPr>
              <a:t>Chain of Responsibility · TaskFlow API · Bearer Auth · Blazor WASM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66560" y="1417320"/>
            <a:ext cx="19659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1417320"/>
            <a:ext cx="1965960" cy="475488"/>
          </a:xfrm>
          <a:prstGeom prst="rect">
            <a:avLst/>
          </a:prstGeom>
          <a:solidFill>
            <a:srgbClr val="E05D5D"/>
          </a:solidFill>
          <a:ln w="12700">
            <a:solidFill>
              <a:srgbClr val="E05D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141732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РОЗДІЛ 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0" y="195681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Тестування та результати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76288" y="2505456"/>
            <a:ext cx="17465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A5F7A"/>
                </a:solidFill>
              </a:rPr>
              <a:t>Unit/System тести · Sentiment кореляція · Продуктивність · Порівняння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Вступ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Актуальність та мета роботи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3 / 17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41605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41605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9844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Актуальність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764792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737360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03A50"/>
                </a:solidFill>
              </a:rPr>
              <a:t>Підприємства обробляють ~2,7 ПБ даних/місяць через конвеєрну інфраструктуру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25856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231136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03A50"/>
                </a:solidFill>
              </a:rPr>
              <a:t>41% часу інженерів даних — усунення проблем якості (DataOps 2023)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752344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724912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03A50"/>
                </a:solidFill>
              </a:rPr>
              <a:t>Apache Airflow — щоденно у 55% організацій з оркестрацією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246120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218688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03A50"/>
                </a:solidFill>
              </a:rPr>
              <a:t>LLaMA + Ollama: локальний LLM-інференс без хмарних провайдерів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739896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712464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03A50"/>
                </a:solidFill>
              </a:rPr>
              <a:t>Відсутні україномовні дослідження self-healing конвеєрів з LLM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298448"/>
            <a:ext cx="41605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298448"/>
            <a:ext cx="4160520" cy="347472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29844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</a:rPr>
              <a:t>Мета та завдання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73168" y="17190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3A50"/>
                </a:solidFill>
              </a:rPr>
              <a:t>Мета: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73168" y="1920240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03A50"/>
                </a:solidFill>
              </a:rPr>
              <a:t>Розробити самовідновлювальний ETL-конвеєр аналізу тональності з вбудованою логікою автоматичного виправлення дефектів, локальним LLM (llama3.2/Ollama) та Blazor-дашбордом моніторингу.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73168" y="26700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3A50"/>
                </a:solidFill>
              </a:rPr>
              <a:t>Завдання: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73168" y="28895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03A50"/>
                </a:solidFill>
              </a:rPr>
              <a:t>1. Теоретичне дослідження self-healing та sentiment analysis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73168" y="32644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03A50"/>
                </a:solidFill>
              </a:rPr>
              <a:t>2. Аналіз якості даних Yelp Academic Dataset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73168" y="36393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03A50"/>
                </a:solidFill>
              </a:rPr>
              <a:t>3. Проектування багаторівневої архітектури системи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73168" y="40142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03A50"/>
                </a:solidFill>
              </a:rPr>
              <a:t>4. Реалізація детерміністичного алгоритму самовідновлення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73168" y="4389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03A50"/>
                </a:solidFill>
              </a:rPr>
              <a:t>5. Інтеграція llama3.2 через Ollama (локальний інференс)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Розділ 1 · п. 1.1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якості даних у Yelp Academic Dataset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4 / 17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98448"/>
          <a:ext cx="5120640" cy="32918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Тип дефекту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Стратегія виправлення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Код статусу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missing_text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Placeholder "No review text provided."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healed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wrong_type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Примусове перетворення str()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healed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empty_text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Заповнення placeholder-текстом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healed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special_chars_only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Заміна на "[Non-text content]"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healed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too_long (&gt;2000)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Обрізка до 2000 символів + "..."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healed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Корректний текст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Нормалізація пробілів strip()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success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23560" y="1298448"/>
            <a:ext cx="3200400" cy="2331720"/>
          </a:xfrm>
          <a:prstGeom prst="rect">
            <a:avLst/>
          </a:prstGeom>
          <a:solidFill>
            <a:srgbClr val="DCEEFA"/>
          </a:solidFill>
          <a:ln w="19050">
            <a:solidFill>
              <a:srgbClr val="7BBFDC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5623560" y="1298448"/>
            <a:ext cx="32004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8FAA"/>
                </a:solidFill>
              </a:rPr>
              <a:t>[ Рис. 1.1 – Типовий розподіл аномалій у датасеті ]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23560" y="3767328"/>
            <a:ext cx="32004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623560" y="376732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</a:rPr>
              <a:t>41%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6748272" y="3767328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часу інженерів даних витрачається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на усунення проблем якості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(DataOps Impact Assessment, 2023)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Розділ 1 · п. 1.2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Концепція Self-Healing у конвеєрах обробки даних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5 / 17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3931920" cy="2286000"/>
          </a:xfrm>
          <a:prstGeom prst="rect">
            <a:avLst/>
          </a:prstGeom>
          <a:solidFill>
            <a:srgbClr val="DCEEFA"/>
          </a:solidFill>
          <a:ln w="19050">
            <a:solidFill>
              <a:srgbClr val="7BBFD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20040" y="1298448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8FAA"/>
                </a:solidFill>
              </a:rPr>
              <a:t>[ Рис. 1.2 – Схема Self-Healing конвеєра ]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3730752"/>
            <a:ext cx="3931920" cy="310896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73075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</a:rPr>
              <a:t>HEALTHY  —  Всі записи успішно оброблено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4078224"/>
            <a:ext cx="3931920" cy="310896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07822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</a:rPr>
              <a:t>WARNING  —  Відновлено &gt;50% записів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4425696"/>
            <a:ext cx="3931920" cy="310896"/>
          </a:xfrm>
          <a:prstGeom prst="rect">
            <a:avLst/>
          </a:prstGeom>
          <a:solidFill>
            <a:srgbClr val="E07B3A"/>
          </a:solidFill>
          <a:ln w="12700">
            <a:solidFill>
              <a:srgbClr val="E07B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442569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</a:rPr>
              <a:t>DEGRADED  —  Є деградовані записи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4773168"/>
            <a:ext cx="3931920" cy="310896"/>
          </a:xfrm>
          <a:prstGeom prst="rect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7731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628"/>
                </a:solidFill>
              </a:rPr>
              <a:t>CRITICAL  —  Деградовані &gt;10% від обсягу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298448"/>
          <a:ext cx="4389120" cy="17373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Підхід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Переваги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Недоліки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Rule-based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Передбачуваність, швидкість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Ручне оновлення правил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ML-based (RL)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Адаптивність до нових сценаріїв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Потребує великих даних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3A52"/>
                          </a:solidFill>
                        </a:rPr>
                        <a:t>Гібридний *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Баланс між підходами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Складніша архітектура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434840" y="312724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D4E6B"/>
                </a:solidFill>
              </a:rPr>
              <a:t>* Обраний підхід у даній системі: детерміністична логіка + чотири рівні здоров'я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434840" y="3639312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63440" y="361188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3A52"/>
                </a:solidFill>
              </a:rPr>
              <a:t>Рівень безперервного моніторингу (real-time)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434840" y="3986784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63440" y="395935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3A52"/>
                </a:solidFill>
              </a:rPr>
              <a:t>Механізм діагностики та класифікації помилок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434840" y="433425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63440" y="4306824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3A52"/>
                </a:solidFill>
              </a:rPr>
              <a:t>Реєстр стратегій виправлення (5 класів дефектів)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434840" y="468172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63440" y="4654296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3A52"/>
                </a:solidFill>
              </a:rPr>
              <a:t>Компонент звітності health-звіту (JSON)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Розділ 1 · пп. 1.3–1.4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та технологічний стек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6 / 17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12984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Еволюція методів Sentiment Analysis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627632"/>
            <a:ext cx="4846320" cy="475488"/>
          </a:xfrm>
          <a:prstGeom prst="rect">
            <a:avLst/>
          </a:prstGeom>
          <a:solidFill>
            <a:srgbClr val="E8F4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64208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2000-ті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88720" y="166420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3A52"/>
                </a:solidFill>
              </a:rPr>
              <a:t>Lexicon-based (VADER, SentiWordNet)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22192" y="166420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9AB8"/>
                </a:solidFill>
              </a:rPr>
              <a:t>Не враховує контекст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2176272"/>
            <a:ext cx="4846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212848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2010-ті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88720" y="221284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3A52"/>
                </a:solidFill>
              </a:rPr>
              <a:t>ML: Naive Bayes, SVM, TF-IDF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22192" y="221284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9AB8"/>
                </a:solidFill>
              </a:rPr>
              <a:t>Не враховує залежності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724912"/>
            <a:ext cx="4846320" cy="475488"/>
          </a:xfrm>
          <a:prstGeom prst="rect">
            <a:avLst/>
          </a:prstGeom>
          <a:solidFill>
            <a:srgbClr val="E8F4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761488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2015+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88720" y="276148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3A52"/>
                </a:solidFill>
              </a:rPr>
              <a:t>Deep: LSTM, CNN + Attention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22192" y="276148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9AB8"/>
                </a:solidFill>
              </a:rPr>
              <a:t>Великий датасет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3273552"/>
            <a:ext cx="4846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310128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2018+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88720" y="33101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3A52"/>
                </a:solidFill>
              </a:rPr>
              <a:t>Transformers: BERT, RoBERTa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22192" y="331012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9AB8"/>
                </a:solidFill>
              </a:rPr>
              <a:t>Великий розмір моделі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" y="3822192"/>
            <a:ext cx="4846320" cy="475488"/>
          </a:xfrm>
          <a:prstGeom prst="rect">
            <a:avLst/>
          </a:prstGeom>
          <a:solidFill>
            <a:srgbClr val="00B4D8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858768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</a:rPr>
              <a:t>2024+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88720" y="385876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</a:rPr>
              <a:t>LLM: llama3.2 + Ollama (цей проєкт)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49240" y="1298448"/>
            <a:ext cx="3474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349240" y="1298448"/>
            <a:ext cx="64008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13716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3.0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0" y="162763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Оркестрація DAG, TaskFlow API, Param API, Web UI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49240" y="2176272"/>
            <a:ext cx="3474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349240" y="2176272"/>
            <a:ext cx="64008" cy="804672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22494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llama3.2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0" y="250545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Локальний LLM-інференс, REST API, 3B параметрів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349240" y="3054096"/>
            <a:ext cx="3474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349240" y="3054096"/>
            <a:ext cx="64008" cy="804672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0" y="31272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0" y="338328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Колонкове аналітичне сховище, вбудоване, субсекундні запити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49240" y="3931920"/>
            <a:ext cx="3474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349240" y="3931920"/>
            <a:ext cx="64008" cy="804672"/>
          </a:xfrm>
          <a:prstGeom prst="rect">
            <a:avLst/>
          </a:prstGeom>
          <a:solidFill>
            <a:srgbClr val="AB6BD4"/>
          </a:solidFill>
          <a:ln w="12700">
            <a:solidFill>
              <a:srgbClr val="AB6B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0" y="40050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Blazor Hosted WASM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0" y="426110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Єдина мова C# для сервера і клієнта, MudBlazor UI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Розділ 2 · п. 2.1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Загальна архітектура системи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7 / 17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5303520" cy="3474720"/>
          </a:xfrm>
          <a:prstGeom prst="rect">
            <a:avLst/>
          </a:prstGeom>
          <a:solidFill>
            <a:srgbClr val="DCEEFA"/>
          </a:solidFill>
          <a:ln w="19050">
            <a:solidFill>
              <a:srgbClr val="7BBFD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20040" y="1298448"/>
            <a:ext cx="5303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8FAA"/>
                </a:solidFill>
              </a:rPr>
              <a:t>[ Рис. 2.1 – Багаторівнева архітектура системи ]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806440" y="1298448"/>
            <a:ext cx="3017520" cy="612648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06440" y="1298448"/>
            <a:ext cx="54864" cy="6126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25312" y="133502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</a:rPr>
              <a:t>Рівень вхідних даних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25312" y="15544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5F7A"/>
                </a:solidFill>
              </a:rPr>
              <a:t>Yelp Academic Dataset (NDJSON) → Blazor Export Service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806440" y="1984248"/>
            <a:ext cx="301752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1984248"/>
            <a:ext cx="54864" cy="612648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25312" y="202082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</a:rPr>
              <a:t>Оркестрація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25312" y="22402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5F7A"/>
                </a:solidFill>
              </a:rPr>
              <a:t>Apache Airflow 3.0 · DAG business_analysis_pipeline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806440" y="2670048"/>
            <a:ext cx="3017520" cy="612648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06440" y="2670048"/>
            <a:ext cx="54864" cy="612648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25312" y="270662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</a:rPr>
              <a:t>Обробка даних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25312" y="29260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5F7A"/>
                </a:solidFill>
              </a:rPr>
              <a:t>Self-Healing Module (Chain of Responsibility) + LLM Sentiment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6440" y="3355848"/>
            <a:ext cx="301752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06440" y="3355848"/>
            <a:ext cx="54864" cy="612648"/>
          </a:xfrm>
          <a:prstGeom prst="rect">
            <a:avLst/>
          </a:prstGeom>
          <a:solidFill>
            <a:srgbClr val="AB6BD4"/>
          </a:solidFill>
          <a:ln w="12700">
            <a:solidFill>
              <a:srgbClr val="AB6B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25312" y="339242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</a:rPr>
              <a:t>Зберігання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25312" y="36118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5F7A"/>
                </a:solidFill>
              </a:rPr>
              <a:t>DuckDB (аналітика, 6+ ГБ) · SQLite (Auth, Pipeline runs)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806440" y="4041648"/>
            <a:ext cx="3017520" cy="612648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06440" y="4041648"/>
            <a:ext cx="54864" cy="612648"/>
          </a:xfrm>
          <a:prstGeom prst="rect">
            <a:avLst/>
          </a:prstGeom>
          <a:solidFill>
            <a:srgbClr val="4EADF0"/>
          </a:solidFill>
          <a:ln w="12700">
            <a:solidFill>
              <a:srgbClr val="4EAD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25312" y="407822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</a:rPr>
              <a:t>Презентація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25312" y="42976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5F7A"/>
                </a:solidFill>
              </a:rPr>
              <a:t>Blazor Hosted WebAssembly · MudBlazor · Real-time polling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Розділ 2 · п. 2.3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Проектування конвеєрів Apache Airflow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8 / 17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47472" y="1463040"/>
            <a:ext cx="1170432" cy="658368"/>
          </a:xfrm>
          <a:prstGeom prst="roundRect">
            <a:avLst>
              <a:gd name="adj" fmla="val 11111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46304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load_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model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17904" y="1792224"/>
            <a:ext cx="219456" cy="0"/>
          </a:xfrm>
          <a:prstGeom prst="line">
            <a:avLst/>
          </a:prstGeom>
          <a:noFill/>
          <a:ln w="19050">
            <a:solidFill>
              <a:srgbClr val="8DB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1463040"/>
            <a:ext cx="1170432" cy="658368"/>
          </a:xfrm>
          <a:prstGeom prst="roundRect">
            <a:avLst>
              <a:gd name="adj" fmla="val 11111"/>
            </a:avLst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146304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load_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reviews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07792" y="1792224"/>
            <a:ext cx="219456" cy="0"/>
          </a:xfrm>
          <a:prstGeom prst="line">
            <a:avLst/>
          </a:prstGeom>
          <a:noFill/>
          <a:ln w="19050">
            <a:solidFill>
              <a:srgbClr val="8DB8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27248" y="1463040"/>
            <a:ext cx="1170432" cy="658368"/>
          </a:xfrm>
          <a:prstGeom prst="roundRect">
            <a:avLst>
              <a:gd name="adj" fmla="val 11111"/>
            </a:avLst>
          </a:prstGeom>
          <a:solidFill>
            <a:srgbClr val="4EADF0"/>
          </a:solidFill>
          <a:ln w="12700">
            <a:solidFill>
              <a:srgbClr val="4EAD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27248" y="146304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diagnose_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and_heal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7680" y="1792224"/>
            <a:ext cx="219456" cy="0"/>
          </a:xfrm>
          <a:prstGeom prst="line">
            <a:avLst/>
          </a:prstGeom>
          <a:noFill/>
          <a:ln w="19050">
            <a:solidFill>
              <a:srgbClr val="8DB8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17136" y="1463040"/>
            <a:ext cx="1170432" cy="658368"/>
          </a:xfrm>
          <a:prstGeom prst="roundRect">
            <a:avLst>
              <a:gd name="adj" fmla="val 11111"/>
            </a:avLst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17136" y="146304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analyze_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sentiment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87568" y="1792224"/>
            <a:ext cx="219456" cy="0"/>
          </a:xfrm>
          <a:prstGeom prst="line">
            <a:avLst/>
          </a:prstGeom>
          <a:noFill/>
          <a:ln w="19050">
            <a:solidFill>
              <a:srgbClr val="8DB8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07024" y="1463040"/>
            <a:ext cx="1170432" cy="658368"/>
          </a:xfrm>
          <a:prstGeom prst="roundRect">
            <a:avLst>
              <a:gd name="adj" fmla="val 11111"/>
            </a:avLst>
          </a:prstGeom>
          <a:solidFill>
            <a:srgbClr val="AB6BD4"/>
          </a:solidFill>
          <a:ln w="12700">
            <a:solidFill>
              <a:srgbClr val="AB6B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07024" y="146304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aggregate_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and_save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77456" y="1792224"/>
            <a:ext cx="219456" cy="0"/>
          </a:xfrm>
          <a:prstGeom prst="line">
            <a:avLst/>
          </a:prstGeom>
          <a:noFill/>
          <a:ln w="19050">
            <a:solidFill>
              <a:srgbClr val="8DB8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96912" y="1463040"/>
            <a:ext cx="1170432" cy="658368"/>
          </a:xfrm>
          <a:prstGeom prst="roundRect">
            <a:avLst>
              <a:gd name="adj" fmla="val 11111"/>
            </a:avLst>
          </a:prstGeom>
          <a:solidFill>
            <a:srgbClr val="E05D5D"/>
          </a:solidFill>
          <a:ln w="12700">
            <a:solidFill>
              <a:srgbClr val="E05D5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96912" y="146304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health_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report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7472" y="2249424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4E6B"/>
                </a:solidFill>
              </a:rPr>
              <a:t>Завантаження llama3.2 через Ollama API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737360" y="2249424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4E6B"/>
                </a:solidFill>
              </a:rPr>
              <a:t>Читання NDJSON з batch_size / offset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127248" y="2249424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4E6B"/>
                </a:solidFill>
              </a:rPr>
              <a:t>Chain of Responsibility: 5 класів дефектів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17136" y="2249424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4E6B"/>
                </a:solidFill>
              </a:rPr>
              <a:t>Послідовний LLM-інференс + retry (3x)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907024" y="2249424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4E6B"/>
                </a:solidFill>
              </a:rPr>
              <a:t>Запис JSON + SQLite (PipelineRun)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96912" y="2249424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4E6B"/>
                </a:solidFill>
              </a:rPr>
              <a:t>Визначення HEALTHY / WARNING / DEGRADED / CRITICAL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" y="2871216"/>
            <a:ext cx="4892040" cy="1828800"/>
          </a:xfrm>
          <a:prstGeom prst="rect">
            <a:avLst/>
          </a:prstGeom>
          <a:solidFill>
            <a:srgbClr val="DCEEFA"/>
          </a:solidFill>
          <a:ln w="19050">
            <a:solidFill>
              <a:srgbClr val="7BBFDC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320040" y="2871216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8FAA"/>
                </a:solidFill>
              </a:rPr>
              <a:t>[ Рис. 2.3 – Структура DAG business_analysis_pipeline ]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94960" y="287121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Параметри запуску (Param API)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94960" y="3200400"/>
            <a:ext cx="3429000" cy="365760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0" y="32369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input_file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84848" y="3236976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3A52"/>
                </a:solidFill>
              </a:rPr>
              <a:t>Шлях до NDJSON (рядок)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394960" y="3621024"/>
            <a:ext cx="3429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0" y="3657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ollama_model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784848" y="365760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3A52"/>
                </a:solidFill>
              </a:rPr>
              <a:t>Ім'я моделі (llama3.2)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94960" y="4041648"/>
            <a:ext cx="3429000" cy="365760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0" y="40782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batch_size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784848" y="4078224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3A52"/>
                </a:solidFill>
              </a:rPr>
              <a:t>Розмір пакету (0 = всі)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394960" y="4462272"/>
            <a:ext cx="3429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0" y="44988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offset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784848" y="449884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3A52"/>
                </a:solidFill>
              </a:rPr>
              <a:t>Зміщення для відновлення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Розділ 2 · п. 2.4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Проектування модуля самовідновлення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9 / 17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4023360" cy="3474720"/>
          </a:xfrm>
          <a:prstGeom prst="rect">
            <a:avLst/>
          </a:prstGeom>
          <a:solidFill>
            <a:srgbClr val="DCEEFA"/>
          </a:solidFill>
          <a:ln w="19050">
            <a:solidFill>
              <a:srgbClr val="7BBFD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20040" y="1298448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8FAA"/>
                </a:solidFill>
              </a:rPr>
              <a:t>[ Рис. 2.4 – Алгоритм Self-Healing (Chain of Responsibility) 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26280" y="12984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Ланцюжок відповідальності (_heal_review)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26280" y="1664208"/>
            <a:ext cx="4297680" cy="438912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664208"/>
            <a:ext cx="54864" cy="438912"/>
          </a:xfrm>
          <a:prstGeom prst="rect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17007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3A52"/>
                </a:solidFill>
              </a:rPr>
              <a:t>text is None?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583680" y="17007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5F7A"/>
                </a:solidFill>
              </a:rPr>
              <a:t>→ filled_with_placeholder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26280" y="2176272"/>
            <a:ext cx="4297680" cy="438912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2176272"/>
            <a:ext cx="54864" cy="438912"/>
          </a:xfrm>
          <a:prstGeom prst="rect">
            <a:avLst/>
          </a:prstGeom>
          <a:solidFill>
            <a:srgbClr val="E07B3A"/>
          </a:solidFill>
          <a:ln w="12700">
            <a:solidFill>
              <a:srgbClr val="E07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22128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3A52"/>
                </a:solidFill>
              </a:rPr>
              <a:t>not isinstance(text,str)?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583680" y="22128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5F7A"/>
                </a:solidFill>
              </a:rPr>
              <a:t>→ type_conversion → str(text)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26280" y="2688336"/>
            <a:ext cx="4297680" cy="438912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26280" y="2688336"/>
            <a:ext cx="54864" cy="438912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27249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3A52"/>
                </a:solidFill>
              </a:rPr>
              <a:t>not text.strip()?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83680" y="27249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5F7A"/>
                </a:solidFill>
              </a:rPr>
              <a:t>→ filled_with_placeholder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26280" y="3200400"/>
            <a:ext cx="4297680" cy="438912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26280" y="3200400"/>
            <a:ext cx="54864" cy="438912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45152" y="32369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3A52"/>
                </a:solidFill>
              </a:rPr>
              <a:t>немає a-zA-Z0-9?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58368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5F7A"/>
                </a:solidFill>
              </a:rPr>
              <a:t>→ replaced → "[Non-text content]"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26280" y="3712464"/>
            <a:ext cx="4297680" cy="438912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26280" y="3712464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45152" y="3749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3A52"/>
                </a:solidFill>
              </a:rPr>
              <a:t>len(text)&gt;2000?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583680" y="3749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5F7A"/>
                </a:solidFill>
              </a:rPr>
              <a:t>→ truncated_text + "..."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26280" y="4224528"/>
            <a:ext cx="4297680" cy="438912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26280" y="4224528"/>
            <a:ext cx="54864" cy="438912"/>
          </a:xfrm>
          <a:prstGeom prst="rect">
            <a:avLst/>
          </a:prstGeom>
          <a:solidFill>
            <a:srgbClr val="4EADF0"/>
          </a:solidFill>
          <a:ln w="12700">
            <a:solidFill>
              <a:srgbClr val="4EAD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45152" y="42611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3A52"/>
                </a:solidFill>
              </a:rPr>
              <a:t>Валідний текст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583680" y="42611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5F7A"/>
                </a:solidFill>
              </a:rPr>
              <a:t>→ text.strip() → status: success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26280" y="475488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B4D8"/>
                </a:solidFill>
              </a:rPr>
              <a:t>original_text зберігається у кожному записі до будь-якого виправлення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Розділ 2 · п. 2.7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Проектування Blazor-дашборду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10 / 17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5029200" cy="3474720"/>
          </a:xfrm>
          <a:prstGeom prst="rect">
            <a:avLst/>
          </a:prstGeom>
          <a:solidFill>
            <a:srgbClr val="DCEEFA"/>
          </a:solidFill>
          <a:ln w="19050">
            <a:solidFill>
              <a:srgbClr val="7BBFD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20040" y="1298448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8FAA"/>
                </a:solidFill>
              </a:rPr>
              <a:t>[ Рис. 2.7 – Архітектура Blazor Hosted WebAssembly дашборду 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532120" y="1298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Сторінки дашборду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32120" y="1664208"/>
            <a:ext cx="329184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32120" y="1664208"/>
            <a:ext cx="64008" cy="7040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Home.razor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0" y="199339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запусків + health-чіпи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32120" y="2441448"/>
            <a:ext cx="329184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32120" y="2441448"/>
            <a:ext cx="64008" cy="704088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5146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RunDetail.razor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0" y="277063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chart, bar chart, Healing Report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32120" y="3218688"/>
            <a:ext cx="329184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32120" y="3218688"/>
            <a:ext cx="64008" cy="704088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32918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BusinessAnalysis.razor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0" y="354787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Heatmap, тренди, real-time polling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532120" y="3995928"/>
            <a:ext cx="329184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32120" y="3995928"/>
            <a:ext cx="64008" cy="704088"/>
          </a:xfrm>
          <a:prstGeom prst="rect">
            <a:avLst/>
          </a:prstGeom>
          <a:solidFill>
            <a:srgbClr val="AB6BD4"/>
          </a:solidFill>
          <a:ln w="12700">
            <a:solidFill>
              <a:srgbClr val="AB6B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40690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Login.razor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0" y="432511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Bearer-автентифікація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532120" y="47914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D4E6B"/>
                </a:solidFill>
              </a:rPr>
              <a:t>Архітектурні рішення: Blazor Hosted WebAssembly · MudBlazor · PeriodicTimer 5с · Task.WhenAll (8 ендпоінтів паралельно)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Розділ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Реалізація системи — ключові компоненти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11 / 17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420624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4206240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9844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</a:rPr>
              <a:t>Self-Healing Module (Python)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9768" y="1737360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682496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3A52"/>
                </a:solidFill>
              </a:rPr>
              <a:t>Chain of Responsibility: 5 умовних гілок у _heal_review()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139696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084832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3A52"/>
                </a:solidFill>
              </a:rPr>
              <a:t>Null Object Pattern: _degraded_results() при недоступності Ollama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29768" y="2542032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248716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3A52"/>
                </a:solidFill>
              </a:rPr>
              <a:t>Зберігання original_text у кожному записі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17720" y="1298448"/>
            <a:ext cx="420624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298448"/>
            <a:ext cx="4206240" cy="329184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29844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</a:rPr>
              <a:t>Apache Airflow Pipeline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27448" y="1737360"/>
            <a:ext cx="128016" cy="128016"/>
          </a:xfrm>
          <a:prstGeom prst="ellipse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1682496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3A52"/>
                </a:solidFill>
              </a:rPr>
              <a:t>TaskFlow API: @task-декоратори, залежності через повернені значення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27448" y="2139696"/>
            <a:ext cx="128016" cy="128016"/>
          </a:xfrm>
          <a:prstGeom prst="ellipse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2084832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3A52"/>
                </a:solidFill>
              </a:rPr>
              <a:t>Param API: типізовані параметри input_file, batch_size, offset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27448" y="2542032"/>
            <a:ext cx="128016" cy="128016"/>
          </a:xfrm>
          <a:prstGeom prst="ellipse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0328" y="248716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3A52"/>
                </a:solidFill>
              </a:rPr>
              <a:t>batch_runner.py: послідовний/паралельний запуск (ThreadPoolExecutor)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3017520"/>
            <a:ext cx="420624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017520"/>
            <a:ext cx="4206240" cy="329184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0175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</a:rPr>
              <a:t>Рівень зберігання (DuckDB + SQLite)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29768" y="3456432"/>
            <a:ext cx="128016" cy="12801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340156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3A52"/>
                </a:solidFill>
              </a:rPr>
              <a:t>read_json_auto(): потоковий імпорт NDJSON без C#-десеріалізації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29768" y="3858768"/>
            <a:ext cx="128016" cy="12801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" y="3803904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3A52"/>
                </a:solidFill>
              </a:rPr>
              <a:t>TRY_CAST для безпечного читання нестандартних дат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29768" y="4261104"/>
            <a:ext cx="128016" cy="12801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420624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3A52"/>
                </a:solidFill>
              </a:rPr>
              <a:t>JOIN з "user" (у лапках — зарезервоване слово DuckDB)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17720" y="3017520"/>
            <a:ext cx="420624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17720" y="3017520"/>
            <a:ext cx="4206240" cy="329184"/>
          </a:xfrm>
          <a:prstGeom prst="rect">
            <a:avLst/>
          </a:prstGeom>
          <a:solidFill>
            <a:srgbClr val="AB6BD4"/>
          </a:solidFill>
          <a:ln w="12700">
            <a:solidFill>
              <a:srgbClr val="AB6B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0175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</a:rPr>
              <a:t>Автентифікація та Blazor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27448" y="3456432"/>
            <a:ext cx="128016" cy="128016"/>
          </a:xfrm>
          <a:prstGeom prst="ellipse">
            <a:avLst/>
          </a:prstGeom>
          <a:solidFill>
            <a:srgbClr val="AB6BD4"/>
          </a:solidFill>
          <a:ln w="12700">
            <a:solidFill>
              <a:srgbClr val="AB6B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0328" y="340156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3A52"/>
                </a:solidFill>
              </a:rPr>
              <a:t>PBKDF2-SHA256 (100 000 ітерацій) для зберігання паролів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27448" y="3858768"/>
            <a:ext cx="128016" cy="128016"/>
          </a:xfrm>
          <a:prstGeom prst="ellipse">
            <a:avLst/>
          </a:prstGeom>
          <a:solidFill>
            <a:srgbClr val="AB6BD4"/>
          </a:solidFill>
          <a:ln w="12700">
            <a:solidFill>
              <a:srgbClr val="AB6B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0328" y="3803904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3A52"/>
                </a:solidFill>
              </a:rPr>
              <a:t>TokenAuthHandler: власна Bearer-схема без зовнішніх залежностей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27448" y="4261104"/>
            <a:ext cx="128016" cy="128016"/>
          </a:xfrm>
          <a:prstGeom prst="ellipse">
            <a:avLst/>
          </a:prstGeom>
          <a:solidFill>
            <a:srgbClr val="AB6BD4"/>
          </a:solidFill>
          <a:ln w="12700">
            <a:solidFill>
              <a:srgbClr val="AB6B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0328" y="420624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3A52"/>
                </a:solidFill>
              </a:rPr>
              <a:t>PeriodicTimer + Task.WhenAll: 4-кратне покращення часу відгуку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Розділ 4 · пп. 4.1–4.2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Тестування системи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12 / 17</a:t>
            </a:r>
            <a:endParaRPr lang="en-US" sz="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98448"/>
          <a:ext cx="4937760" cy="283464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ТК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Компонент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Статус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TC-01–06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Self-Healing (5 дефектів + норм.)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✓ Пройдено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TC-07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Ollama недоступна → NEUTRAL 0.5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✓ Пройдено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TC-08–09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Airflow health-статуси (4 рівні)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✓ Пройдено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TC-10–12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Auth: 401/200, Bearer-токени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✓ Пройдено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TC-13–15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Blazor UI + real-time polling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✓ Пройдено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422452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Результати TC-01 – TC-06 (Self-Healing):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20040" y="44805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3A52"/>
                </a:solidFill>
              </a:rPr>
              <a:t>missing_text  wrong_type  empty_text  special_chars  too_long  valid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440680" y="1298448"/>
            <a:ext cx="3383280" cy="1755648"/>
          </a:xfrm>
          <a:prstGeom prst="rect">
            <a:avLst/>
          </a:prstGeom>
          <a:solidFill>
            <a:srgbClr val="DCEEFA"/>
          </a:solidFill>
          <a:ln w="19050">
            <a:solidFill>
              <a:srgbClr val="7BBFDC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5440680" y="1298448"/>
            <a:ext cx="3383280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8FAA"/>
                </a:solidFill>
              </a:rPr>
              <a:t>[ Рис. 4.1 – Успішне виконання DAG в Airflow UI ]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40680" y="3182112"/>
            <a:ext cx="3383280" cy="1591056"/>
          </a:xfrm>
          <a:prstGeom prst="rect">
            <a:avLst/>
          </a:prstGeom>
          <a:solidFill>
            <a:srgbClr val="DCEEFA"/>
          </a:solidFill>
          <a:ln w="19050">
            <a:solidFill>
              <a:srgbClr val="7BBFDC"/>
            </a:solidFill>
            <a:prstDash val="dash"/>
          </a:ln>
        </p:spPr>
      </p:sp>
      <p:sp>
        <p:nvSpPr>
          <p:cNvPr id="7" name="Text 10"/>
          <p:cNvSpPr/>
          <p:nvPr/>
        </p:nvSpPr>
        <p:spPr>
          <a:xfrm>
            <a:off x="5440680" y="3182112"/>
            <a:ext cx="3383280" cy="1591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8FAA"/>
                </a:solidFill>
              </a:rPr>
              <a:t>[ Рис. 4.2 – Головна сторінка дашборду: список запусків ]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Розділ 4 · п. 4.5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результатів Sentiment Analysis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13 / 17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98448"/>
          <a:ext cx="4892040" cy="32004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Зірки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POSITIVE (%)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NEGATIVE (%)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NEUTRAL (%)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Кореляція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A52"/>
                          </a:solidFill>
                        </a:rPr>
                        <a:t>1 ★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A52"/>
                          </a:solidFill>
                        </a:rPr>
                        <a:t>8–12%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A52"/>
                          </a:solidFill>
                        </a:rPr>
                        <a:t>75–82%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A52"/>
                          </a:solidFill>
                        </a:rPr>
                        <a:t>10–15%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A52"/>
                          </a:solidFill>
                        </a:rPr>
                        <a:t>Висока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A52"/>
                          </a:solidFill>
                        </a:rPr>
                        <a:t>2 ★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A52"/>
                          </a:solidFill>
                        </a:rPr>
                        <a:t>15–22%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A52"/>
                          </a:solidFill>
                        </a:rPr>
                        <a:t>55–65%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A52"/>
                          </a:solidFill>
                        </a:rPr>
                        <a:t>18–25%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A52"/>
                          </a:solidFill>
                        </a:rPr>
                        <a:t>Середня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A52"/>
                          </a:solidFill>
                        </a:rPr>
                        <a:t>3 ★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A52"/>
                          </a:solidFill>
                        </a:rPr>
                        <a:t>25–35%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A52"/>
                          </a:solidFill>
                        </a:rPr>
                        <a:t>20–30%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A52"/>
                          </a:solidFill>
                        </a:rPr>
                        <a:t>40–50%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A52"/>
                          </a:solidFill>
                        </a:rPr>
                        <a:t>Низька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A52"/>
                          </a:solidFill>
                        </a:rPr>
                        <a:t>4 ★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A52"/>
                          </a:solidFill>
                        </a:rPr>
                        <a:t>60–70%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A52"/>
                          </a:solidFill>
                        </a:rPr>
                        <a:t>8–15%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A52"/>
                          </a:solidFill>
                        </a:rPr>
                        <a:t>18–28%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A52"/>
                          </a:solidFill>
                        </a:rPr>
                        <a:t>Висока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A52"/>
                          </a:solidFill>
                        </a:rPr>
                        <a:t>5 ★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A52"/>
                          </a:solidFill>
                        </a:rPr>
                        <a:t>78–88%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A52"/>
                          </a:solidFill>
                        </a:rPr>
                        <a:t>3–7%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A52"/>
                          </a:solidFill>
                        </a:rPr>
                        <a:t>8–15%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A52"/>
                          </a:solidFill>
                        </a:rPr>
                        <a:t>Висока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459028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07B3A"/>
                </a:solidFill>
              </a:rPr>
              <a:t>3-зіркові відгуки мають найнижчу кореляцію через змішаний емоційний характер (expected).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394960" y="1298448"/>
            <a:ext cx="3429000" cy="1828800"/>
          </a:xfrm>
          <a:prstGeom prst="rect">
            <a:avLst/>
          </a:prstGeom>
          <a:solidFill>
            <a:srgbClr val="DCEEFA"/>
          </a:solidFill>
          <a:ln w="19050">
            <a:solidFill>
              <a:srgbClr val="7BBFDC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5394960" y="1298448"/>
            <a:ext cx="3429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8FAA"/>
                </a:solidFill>
              </a:rPr>
              <a:t>[ Рис. 4.3 – Розподіл тональності та кореляція зірок ]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394960" y="325526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Confidence score за статусами:</a:t>
            </a:r>
            <a:endParaRPr lang="en-US" sz="9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3566160"/>
          <a:ext cx="3429000" cy="11887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Статус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Avg confidence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A52"/>
                          </a:solidFill>
                        </a:rPr>
                        <a:t>success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A52"/>
                          </a:solidFill>
                        </a:rPr>
                        <a:t>0.78–0.85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A52"/>
                          </a:solidFill>
                        </a:rPr>
                        <a:t>healed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A52"/>
                          </a:solidFill>
                        </a:rPr>
                        <a:t>0.65–0.75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A52"/>
                          </a:solidFill>
                        </a:rPr>
                        <a:t>degraded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3A52"/>
                          </a:solidFill>
                        </a:rPr>
                        <a:t>0.50 (fixed)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Розділ 4 · п. 4.6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продуктивності системи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14 / 17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129844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Час виконання DAG залежно від batch_size (llama3.2, CPU Ryzen 5800H):</a:t>
            </a:r>
            <a:endParaRPr lang="en-US" sz="9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27632"/>
          <a:ext cx="5074920" cy="19202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batch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load_model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diagnose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sentiment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Загалом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10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~8 с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&lt;1 с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~50 с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~60 с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100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~8 с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&lt;1 с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~500 с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~510 с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500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~8 с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~2 с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~2500 с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~2510 с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1000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~8 с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~4 с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~5000 с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~5016 с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2102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B4D8"/>
                </a:solidFill>
              </a:rPr>
              <a:t>analyze_sentiment: 96–98% часу виконання. ~5 с/відгук на CPU, ~0.5–1 с на GPU.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20040" y="398678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DuckDB vs прямий JSON-scan:</a:t>
            </a:r>
            <a:endParaRPr lang="en-US" sz="95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279392"/>
          <a:ext cx="5074920" cy="76809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2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Запит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DuckDB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JSON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×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Пошук бізнесу (ILIKE)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8–15 мс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4000–8000 мс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~400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Місячний тренд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12–25 мс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5000–12000 мс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~400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Heatmap 7×24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18–35 мс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8000–15000 мс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~300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577840" y="1298448"/>
            <a:ext cx="3246120" cy="2194560"/>
          </a:xfrm>
          <a:prstGeom prst="rect">
            <a:avLst/>
          </a:prstGeom>
          <a:solidFill>
            <a:srgbClr val="DCEEFA"/>
          </a:solidFill>
          <a:ln w="19050">
            <a:solidFill>
              <a:srgbClr val="7BBFDC"/>
            </a:solidFill>
            <a:prstDash val="dash"/>
          </a:ln>
        </p:spPr>
      </p:sp>
      <p:sp>
        <p:nvSpPr>
          <p:cNvPr id="13" name="Text 9"/>
          <p:cNvSpPr/>
          <p:nvPr/>
        </p:nvSpPr>
        <p:spPr>
          <a:xfrm>
            <a:off x="5577840" y="1298448"/>
            <a:ext cx="3246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8FAA"/>
                </a:solidFill>
              </a:rPr>
              <a:t>[ Рис. 4.5 – Аналітика бізнесу: heatmap та тренди ]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577840" y="3621024"/>
            <a:ext cx="3246120" cy="1426464"/>
          </a:xfrm>
          <a:prstGeom prst="rect">
            <a:avLst/>
          </a:prstGeom>
          <a:solidFill>
            <a:srgbClr val="DCEEFA"/>
          </a:solidFill>
          <a:ln w="19050">
            <a:solidFill>
              <a:srgbClr val="7BBFDC"/>
            </a:solidFill>
            <a:prstDash val="dash"/>
          </a:ln>
        </p:spPr>
      </p:sp>
      <p:sp>
        <p:nvSpPr>
          <p:cNvPr id="8" name="Text 11"/>
          <p:cNvSpPr/>
          <p:nvPr/>
        </p:nvSpPr>
        <p:spPr>
          <a:xfrm>
            <a:off x="5577840" y="3621024"/>
            <a:ext cx="3246120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8FAA"/>
                </a:solidFill>
              </a:rPr>
              <a:t>[ Рис. 4.4 – Healing Report: до/після ]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Розділ 4 · п. 4.7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Порівняння Apache Airflow з аналогами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15 / 17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98448"/>
          <a:ext cx="8503920" cy="3749040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Критерій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Apache Airflow 3.0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Prefect 3.x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Dagster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3A52"/>
                          </a:solidFill>
                        </a:rPr>
                        <a:t>Парадигма задач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A1628"/>
                          </a:solidFill>
                        </a:rPr>
                        <a:t>Python DAG + TaskFlow API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Flow + @task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Asset-first + ops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3A52"/>
                          </a:solidFill>
                        </a:rPr>
                        <a:t>Обробка помилок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A1628"/>
                          </a:solidFill>
                        </a:rPr>
                        <a:t>retry, on_failure_callback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Circuit breakers, SLA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Asset checks, hooks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3A52"/>
                          </a:solidFill>
                        </a:rPr>
                        <a:t>Self-healing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A1628"/>
                          </a:solidFill>
                        </a:rPr>
                        <a:t>Ручна реалізація ✓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Ручна реалізація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Вбудовані asset checks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3A52"/>
                          </a:solidFill>
                        </a:rPr>
                        <a:t>Моніторинг UI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A1628"/>
                          </a:solidFill>
                        </a:rPr>
                        <a:t>Вбудований Web UI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Prefect Cloud/Server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Dagster UI (Dagit)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3A52"/>
                          </a:solidFill>
                        </a:rPr>
                        <a:t>GitHub stars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A1628"/>
                          </a:solidFill>
                        </a:rPr>
                        <a:t>36 000+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15 000+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11 000+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3A52"/>
                          </a:solidFill>
                        </a:rPr>
                        <a:t>Self-hosted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A1628"/>
                          </a:solidFill>
                        </a:rPr>
                        <a:t>Повністю ✓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Self-hosted / Cloud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Self-hosted / Cloud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B3A52"/>
                          </a:solidFill>
                        </a:rPr>
                        <a:t>Придатність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A1628"/>
                          </a:solidFill>
                        </a:rPr>
                        <a:t>★★★★★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★★★★☆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B3A52"/>
                          </a:solidFill>
                        </a:rPr>
                        <a:t>★★★☆☆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Розділ 4 · п. 4.7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Переваги та обмеження розробленої системи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16 / 17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8503920" cy="804672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98448"/>
            <a:ext cx="5486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53312"/>
            <a:ext cx="1170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Self-Healing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64208" y="1389888"/>
            <a:ext cx="822960" cy="256032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13898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Переваги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664208" y="16824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B3A52"/>
                </a:solidFill>
              </a:rPr>
              <a:t>Детерміністична логіка, повний audit trail кожного виправлення, 5 класів помилок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166360" y="1389888"/>
            <a:ext cx="822960" cy="256032"/>
          </a:xfrm>
          <a:prstGeom prst="rect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13898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Обмеження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66360" y="168249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B3A52"/>
                </a:solidFill>
              </a:rPr>
              <a:t>Відсутня підтримка нових типів без змін коду DAG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194560"/>
            <a:ext cx="8503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194560"/>
            <a:ext cx="54864" cy="804672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249424"/>
            <a:ext cx="1170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LLM Inference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664208" y="2286000"/>
            <a:ext cx="822960" cy="256032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64208" y="22860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Переваги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664208" y="25786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B3A52"/>
                </a:solidFill>
              </a:rPr>
              <a:t>Конфіденційність даних (локально); нульова вартість API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166360" y="2286000"/>
            <a:ext cx="822960" cy="256032"/>
          </a:xfrm>
          <a:prstGeom prst="rect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22860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Обмеження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66360" y="257860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B3A52"/>
                </a:solidFill>
              </a:rPr>
              <a:t>Послідовний інференс ~5 с/відгук на CPU; відсутня GPU-підтримка у Docker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3090672"/>
            <a:ext cx="8503920" cy="804672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090672"/>
            <a:ext cx="54864" cy="804672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145536"/>
            <a:ext cx="1170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DuckDB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664208" y="3182112"/>
            <a:ext cx="822960" cy="256032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64208" y="31821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Переваги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664208" y="34747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B3A52"/>
                </a:solidFill>
              </a:rPr>
              <a:t>Субсекундні аналітичні запити на 6+ ГБ без зовнішнього сервера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166360" y="3182112"/>
            <a:ext cx="822960" cy="256032"/>
          </a:xfrm>
          <a:prstGeom prst="rect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31821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Обмеження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66360" y="347472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B3A52"/>
                </a:solidFill>
              </a:rPr>
              <a:t>Відсутня реплікація та паралельний запис між процесами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" y="3986784"/>
            <a:ext cx="8503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986784"/>
            <a:ext cx="54864" cy="804672"/>
          </a:xfrm>
          <a:prstGeom prst="rect">
            <a:avLst/>
          </a:prstGeom>
          <a:solidFill>
            <a:srgbClr val="AB6BD4"/>
          </a:solidFill>
          <a:ln w="12700">
            <a:solidFill>
              <a:srgbClr val="AB6B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041648"/>
            <a:ext cx="1170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Blazor WASM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664208" y="4078224"/>
            <a:ext cx="822960" cy="256032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64208" y="40782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Переваги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664208" y="43708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B3A52"/>
                </a:solidFill>
              </a:rPr>
              <a:t>Єдина мова C# для сервера і клієнта; MudBlazor-компоненти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166360" y="4078224"/>
            <a:ext cx="822960" cy="256032"/>
          </a:xfrm>
          <a:prstGeom prst="rect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66360" y="40782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Обмеження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166360" y="437083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B3A52"/>
                </a:solidFill>
              </a:rPr>
              <a:t>Перше завантаження WASM ~3–5 с; XSS-ризик localStorage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ВИСНОВКИ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0" y="768096"/>
            <a:ext cx="6400800" cy="0"/>
          </a:xfrm>
          <a:prstGeom prst="line">
            <a:avLst/>
          </a:prstGeom>
          <a:noFill/>
          <a:ln w="9525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0F2A4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512064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512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0704" y="914400"/>
            <a:ext cx="7534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Розроблено самовідновлювальний ETL-конвеєр із детерміністичним алгоритмом виявлення та виправлення 5 класів дефектів вхідних даних на базі Apache Airflow 3.0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8229600" cy="731520"/>
          </a:xfrm>
          <a:prstGeom prst="rect">
            <a:avLst/>
          </a:prstGeom>
          <a:solidFill>
            <a:srgbClr val="0F2A4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19072"/>
            <a:ext cx="512064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19072"/>
            <a:ext cx="512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60704" y="1719072"/>
            <a:ext cx="7534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Реалізовано інтеграцію локальної LLM llama3.2 через Ollama із retry-логікою та Null Object Pattern (graceful degradation при недоступності Ollama)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523744"/>
            <a:ext cx="8229600" cy="731520"/>
          </a:xfrm>
          <a:prstGeom prst="rect">
            <a:avLst/>
          </a:prstGeom>
          <a:solidFill>
            <a:srgbClr val="0F2A4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523744"/>
            <a:ext cx="512064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23744"/>
            <a:ext cx="512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60704" y="2523744"/>
            <a:ext cx="7534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Побудовано аналітичне сховище DuckDB з колонковим зберіганням — субсекундні запити (300–500× швидше прямого JSON-сканування) на датасеті 6+ ГБ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328416"/>
            <a:ext cx="8229600" cy="731520"/>
          </a:xfrm>
          <a:prstGeom prst="rect">
            <a:avLst/>
          </a:prstGeom>
          <a:solidFill>
            <a:srgbClr val="0F2A4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28416"/>
            <a:ext cx="512064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28416"/>
            <a:ext cx="512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0704" y="3328416"/>
            <a:ext cx="7534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Тестування підтвердило: середній confidence ≥ 0.78 на success-записах; очікувана кореляція зірок/тональності (найвища для 1★ та 5★)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4133088"/>
            <a:ext cx="8229600" cy="731520"/>
          </a:xfrm>
          <a:prstGeom prst="rect">
            <a:avLst/>
          </a:prstGeom>
          <a:solidFill>
            <a:srgbClr val="0F2A4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133088"/>
            <a:ext cx="512064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133088"/>
            <a:ext cx="512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60704" y="4133088"/>
            <a:ext cx="7534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Apache Airflow 3.0 обґрунтовано обраний як найзріліший оркестратор (36 000+ GitHub stars) з повною self-hosted моделлю та Param API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17 / 17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1862</Words>
  <Application>Microsoft Office PowerPoint</Application>
  <PresentationFormat>Экран (16:9)</PresentationFormat>
  <Paragraphs>423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Self-Healing ETL Pipeline</dc:title>
  <dc:subject>PptxGenJS Presentation</dc:subject>
  <dc:creator>Мулик Андрій Васильович</dc:creator>
  <cp:lastModifiedBy>Yuriy Tomka</cp:lastModifiedBy>
  <cp:revision>2</cp:revision>
  <dcterms:created xsi:type="dcterms:W3CDTF">2026-05-03T19:34:23Z</dcterms:created>
  <dcterms:modified xsi:type="dcterms:W3CDTF">2026-05-03T19:37:22Z</dcterms:modified>
</cp:coreProperties>
</file>